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Lora"/>
      <p:regular r:id="rId201314"/>
    </p:embeddedFont>
    <p:embeddedFont>
      <p:font typeface="Lora Medium"/>
      <p:regular r:id="rId201315"/>
    </p:embeddedFont>
    <p:embeddedFont>
      <p:font typeface="Lora SemiBold"/>
      <p:regular r:id="rId201316"/>
    </p:embeddedFont>
    <p:embeddedFont>
      <p:font typeface="Lora Bold"/>
      <p:regular r:id="rId201317"/>
    </p:embeddedFont>
    <p:embeddedFont>
      <p:font typeface="Source Sans 3 ExtraLight"/>
      <p:regular r:id="rId201318"/>
    </p:embeddedFont>
    <p:embeddedFont>
      <p:font typeface="Source Sans 3 Light"/>
      <p:regular r:id="rId201319"/>
    </p:embeddedFont>
    <p:embeddedFont>
      <p:font typeface="Source Sans 3"/>
      <p:regular r:id="rId201320"/>
    </p:embeddedFont>
    <p:embeddedFont>
      <p:font typeface="Source Sans 3 Medium"/>
      <p:regular r:id="rId201321"/>
    </p:embeddedFont>
    <p:embeddedFont>
      <p:font typeface="Source Sans 3 SemiBold"/>
      <p:regular r:id="rId201322"/>
    </p:embeddedFont>
    <p:embeddedFont>
      <p:font typeface="Source Sans 3 Bold"/>
      <p:regular r:id="rId201323"/>
    </p:embeddedFont>
    <p:embeddedFont>
      <p:font typeface="Source Sans 3 ExtraBold"/>
      <p:regular r:id="rId201324"/>
    </p:embeddedFont>
    <p:embeddedFont>
      <p:font typeface="Source Sans 3 Black"/>
      <p:regular r:id="rId2013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2082403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2821632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3,900 transactions · 18 features · Executive-level insights derived from observed purchasing patterns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4458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238473"/>
            <a:ext cx="3954884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3,900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523577" y="1919139"/>
            <a:ext cx="395488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23577" y="2228850"/>
            <a:ext cx="395488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Cross-category purchase records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665464" y="1238473"/>
            <a:ext cx="3954959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18</a:t>
            </a:r>
            <a:endParaRPr lang="en-US" sz="3850" dirty="0"/>
          </a:p>
        </p:txBody>
      </p:sp>
      <p:sp>
        <p:nvSpPr>
          <p:cNvPr id="7" name="Text 5"/>
          <p:cNvSpPr/>
          <p:nvPr/>
        </p:nvSpPr>
        <p:spPr>
          <a:xfrm>
            <a:off x="4665464" y="1919139"/>
            <a:ext cx="3954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Features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5464" y="2228850"/>
            <a:ext cx="39549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Demographic, behavioral, and transactional variables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3577" y="2842245"/>
            <a:ext cx="3954884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50</a:t>
            </a:r>
            <a:endParaRPr lang="en-US" sz="3850" dirty="0"/>
          </a:p>
        </p:txBody>
      </p:sp>
      <p:sp>
        <p:nvSpPr>
          <p:cNvPr id="10" name="Text 8"/>
          <p:cNvSpPr/>
          <p:nvPr/>
        </p:nvSpPr>
        <p:spPr>
          <a:xfrm>
            <a:off x="523577" y="3522911"/>
            <a:ext cx="395488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Locations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23577" y="3832622"/>
            <a:ext cx="395488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U.S. states represented in the dataset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65464" y="2842245"/>
            <a:ext cx="3954959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37</a:t>
            </a:r>
            <a:endParaRPr lang="en-US" sz="3850" dirty="0"/>
          </a:p>
        </p:txBody>
      </p:sp>
      <p:sp>
        <p:nvSpPr>
          <p:cNvPr id="13" name="Text 11"/>
          <p:cNvSpPr/>
          <p:nvPr/>
        </p:nvSpPr>
        <p:spPr>
          <a:xfrm>
            <a:off x="4665464" y="3522911"/>
            <a:ext cx="3954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Missing Ratings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5464" y="3832622"/>
            <a:ext cx="39549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Addressed through category-level median imputation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3577" y="4240262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structured dataset integrates demographic, purchase, and shopping-behavior signals, all standardized within PostgreSQL to support rigorous downstream analysis and executive decision-making.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37778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Pipeline: Python to PostgreSQL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3764" y="1177007"/>
            <a:ext cx="6296471" cy="28816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4999" y="3274059"/>
            <a:ext cx="1182114" cy="428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Operationalize in PostgreSQL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5211" y="3166905"/>
            <a:ext cx="1182114" cy="642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Engineer High-Value Features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273521" y="3274059"/>
            <a:ext cx="1182114" cy="428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Normalize &amp; Standardize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759443" y="3274059"/>
            <a:ext cx="1182114" cy="428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Ingest &amp; Assess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23577" y="4226942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Redundant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promo_code_used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was removed after validating its overlap with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discount_applied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improving schema efficiency and reducing feature duplication without sacrificing analytical coverage.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12540"/>
            <a:ext cx="3865959" cy="2782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493862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Male Customers Account for 68% of Revenue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9226" y="1863403"/>
            <a:ext cx="386595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$157,890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compared with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$75,191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from female customers, representing a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2.1x revenue differential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a clear concentration of value in the male segment.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759226" y="2989213"/>
            <a:ext cx="3865959" cy="1062112"/>
          </a:xfrm>
          <a:prstGeom prst="roundRect">
            <a:avLst>
              <a:gd name="adj" fmla="val 2113"/>
            </a:avLst>
          </a:prstGeom>
          <a:solidFill>
            <a:srgbClr val="E2ECD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798" y="3207172"/>
            <a:ext cx="187003" cy="1495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5373" y="3161184"/>
            <a:ext cx="3230240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Strategic priority: Evaluate female customer acquisition, engagement, and retention to close the revenue gap and broaden the monetization base.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62496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Subscribers vs. Non-Subscribers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395115"/>
            <a:ext cx="3865959" cy="2782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376437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Non-Subscribers Generate 73% of Revenue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9226" y="1745977"/>
            <a:ext cx="3865959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Non-subscribers account for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$170K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revenue, representing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73%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the current base. Average spend remains nearly identical at approximately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$59.50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per customer, indicating a substantial opportunity to convert high-value, high-frequency buyers into recurring subscribers.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759226" y="3111178"/>
            <a:ext cx="3865959" cy="1301502"/>
          </a:xfrm>
          <a:prstGeom prst="roundRect">
            <a:avLst>
              <a:gd name="adj" fmla="val 1724"/>
            </a:avLst>
          </a:prstGeom>
          <a:solidFill>
            <a:srgbClr val="E2ECD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798" y="3329136"/>
            <a:ext cx="187003" cy="1495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5373" y="3283148"/>
            <a:ext cx="3230240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Strategic priority: accelerate subscription conversion among active non-subscribers to expand recurring revenue and improve lifetime value.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1435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Segmentation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23577" y="646361"/>
            <a:ext cx="8096845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Loyal Customers Represent the Core of the Base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23577" y="812378"/>
            <a:ext cx="855404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80%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customers are Loyal, indicating a highly stable retention foundation. The limited volume of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83 New customers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points to a meaningful acquisition constraint that may be limiting overall growth.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523577" y="944166"/>
            <a:ext cx="809684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Loyal (80%)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3,116 customers, underscoring strong recurring engagement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Returning (18%)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701 customers, representing an important reactivation segment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New (2%)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83 customers, highlighting an urgent need to strengthen acquisition channels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23577" y="1281485"/>
            <a:ext cx="855404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Strategically, the customer base is healthy but concentrated. Near-term growth should prioritize expanding top-of-funnel acquisition while sustaining retention and increasing conversion from returning customers into loyal advocates.</a:t>
            </a:r>
            <a:endParaRPr lang="en-US" sz="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413272"/>
            <a:ext cx="8096845" cy="45341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53083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 Products by Category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92312"/>
            <a:ext cx="1092622" cy="6752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2454548"/>
            <a:ext cx="188394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Accessories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3577" y="2764259"/>
            <a:ext cx="1883941" cy="1526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Jewelry · Sunglasses · Belt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Accessory assortment reflects strong breadth across high-margin, add-on purchase categories and supports basket expansion.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521" y="1592312"/>
            <a:ext cx="1092622" cy="6752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94521" y="2454548"/>
            <a:ext cx="188394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Clothing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94521" y="2764259"/>
            <a:ext cx="1883941" cy="1526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Blouse · Pants · Shirt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apparel offerings indicate a balanced mix of essential wardrobe staples with consistent demand potential.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464" y="1592312"/>
            <a:ext cx="1092622" cy="6752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5464" y="2454548"/>
            <a:ext cx="188394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Footwear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5464" y="2764259"/>
            <a:ext cx="1883941" cy="1526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Sandals · Shoes · Sneakers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Footwear remains a strategic category for conversion, combining utility-driven purchases with repeat buying behavior.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407" y="1592312"/>
            <a:ext cx="1092696" cy="6753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36407" y="2454622"/>
            <a:ext cx="188401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Outerwear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36407" y="2764334"/>
            <a:ext cx="1884015" cy="1526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Jacket · Coat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Outerwear provides seasonal relevance and higher-ticket potential, strengthening assortment depth during peak demand periods.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51247"/>
            <a:ext cx="4667845" cy="36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Strategic Recommendations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3952577" y="969541"/>
            <a:ext cx="4667845" cy="853753"/>
          </a:xfrm>
          <a:prstGeom prst="roundRect">
            <a:avLst>
              <a:gd name="adj" fmla="val 2177"/>
            </a:avLst>
          </a:prstGeom>
          <a:solidFill>
            <a:srgbClr val="F3E7D4"/>
          </a:solidFill>
          <a:ln/>
        </p:spPr>
      </p:sp>
      <p:sp>
        <p:nvSpPr>
          <p:cNvPr id="5" name="Text 2"/>
          <p:cNvSpPr/>
          <p:nvPr/>
        </p:nvSpPr>
        <p:spPr>
          <a:xfrm>
            <a:off x="4076402" y="1093366"/>
            <a:ext cx="442019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Loyalty Program Expansion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076402" y="1337072"/>
            <a:ext cx="442019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Incentivize repeat purchasing to accelerate retention and deepen Loyal segment penetration.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952577" y="1925836"/>
            <a:ext cx="4667845" cy="853753"/>
          </a:xfrm>
          <a:prstGeom prst="roundRect">
            <a:avLst>
              <a:gd name="adj" fmla="val 2177"/>
            </a:avLst>
          </a:prstGeom>
          <a:solidFill>
            <a:srgbClr val="F3E7D4"/>
          </a:solidFill>
          <a:ln/>
        </p:spPr>
      </p:sp>
      <p:sp>
        <p:nvSpPr>
          <p:cNvPr id="8" name="Text 5"/>
          <p:cNvSpPr/>
          <p:nvPr/>
        </p:nvSpPr>
        <p:spPr>
          <a:xfrm>
            <a:off x="4076402" y="2049661"/>
            <a:ext cx="442019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Discount Policy Optimization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76402" y="2293367"/>
            <a:ext cx="442019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Recalibrate promotional depth to preserve margin integrity while sustaining conversion lift.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952577" y="2882131"/>
            <a:ext cx="4667845" cy="853753"/>
          </a:xfrm>
          <a:prstGeom prst="roundRect">
            <a:avLst>
              <a:gd name="adj" fmla="val 2177"/>
            </a:avLst>
          </a:prstGeom>
          <a:solidFill>
            <a:srgbClr val="F3E7D4"/>
          </a:solidFill>
          <a:ln/>
        </p:spPr>
      </p:sp>
      <p:sp>
        <p:nvSpPr>
          <p:cNvPr id="11" name="Text 8"/>
          <p:cNvSpPr/>
          <p:nvPr/>
        </p:nvSpPr>
        <p:spPr>
          <a:xfrm>
            <a:off x="4076402" y="3005956"/>
            <a:ext cx="442019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Premium Product Positioning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76402" y="3249662"/>
            <a:ext cx="442019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Prioritize top-rated offerings in campaigns to strengthen perceived value and improve response rates.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952577" y="3838426"/>
            <a:ext cx="4667845" cy="853753"/>
          </a:xfrm>
          <a:prstGeom prst="roundRect">
            <a:avLst>
              <a:gd name="adj" fmla="val 2177"/>
            </a:avLst>
          </a:prstGeom>
          <a:solidFill>
            <a:srgbClr val="F3E7D4"/>
          </a:solidFill>
          <a:ln/>
        </p:spPr>
      </p:sp>
      <p:sp>
        <p:nvSpPr>
          <p:cNvPr id="14" name="Text 11"/>
          <p:cNvSpPr/>
          <p:nvPr/>
        </p:nvSpPr>
        <p:spPr>
          <a:xfrm>
            <a:off x="4076402" y="3962251"/>
            <a:ext cx="442019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Precision Audience Targeting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076402" y="4205957"/>
            <a:ext cx="442019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Concentrate spend on high-value age cohorts and express-shipping users with the strongest revenue potential.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2026-07-20T11:22:51Z</dcterms:created>
  <dcterms:modified xsi:type="dcterms:W3CDTF">2026-07-20T11:22:51Z</dcterms:modified>
</cp:coreProperties>
</file>